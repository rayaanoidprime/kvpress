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"/>
          </a:xfrm>
          <a:prstGeom prst="rect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68680"/>
            <a:ext cx="9144000" cy="4572"/>
          </a:xfrm>
          <a:prstGeom prst="rect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1737360"/>
            <a:ext cx="9144000" cy="4572"/>
          </a:xfrm>
          <a:prstGeom prst="rect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2606040"/>
            <a:ext cx="9144000" cy="4572"/>
          </a:xfrm>
          <a:prstGeom prst="rect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0" y="3474720"/>
            <a:ext cx="9144000" cy="4572"/>
          </a:xfrm>
          <a:prstGeom prst="rect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4343400"/>
            <a:ext cx="9144000" cy="4572"/>
          </a:xfrm>
          <a:prstGeom prst="rect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64592" y="0"/>
            <a:ext cx="54864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2920" y="1371600"/>
            <a:ext cx="8046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KV Cache Compression</a:t>
            </a:r>
            <a:endParaRPr lang="en-US" sz="4000" dirty="0"/>
          </a:p>
        </p:txBody>
      </p:sp>
      <p:sp>
        <p:nvSpPr>
          <p:cNvPr id="11" name="Text 9"/>
          <p:cNvSpPr/>
          <p:nvPr/>
        </p:nvSpPr>
        <p:spPr>
          <a:xfrm>
            <a:off x="502920" y="2267712"/>
            <a:ext cx="7498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Exploration Phase — Structure, Methods &amp; Benchmarks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502920" y="2816352"/>
            <a:ext cx="4114800" cy="2743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02920" y="3017520"/>
            <a:ext cx="1828800" cy="384048"/>
          </a:xfrm>
          <a:prstGeom prst="roundRect">
            <a:avLst>
              <a:gd name="adj" fmla="val 19048"/>
            </a:avLst>
          </a:prstGeom>
          <a:solidFill>
            <a:srgbClr val="1E3A5F"/>
          </a:solidFill>
          <a:ln w="19050">
            <a:solidFill>
              <a:srgbClr val="2563E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301752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TinyLlama 1.1B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2606040" y="3017520"/>
            <a:ext cx="1828800" cy="384048"/>
          </a:xfrm>
          <a:prstGeom prst="roundRect">
            <a:avLst>
              <a:gd name="adj" fmla="val 19048"/>
            </a:avLst>
          </a:prstGeom>
          <a:solidFill>
            <a:srgbClr val="1E3A5F"/>
          </a:solidFill>
          <a:ln w="19050">
            <a:solidFill>
              <a:srgbClr val="2563E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606040" y="301752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Qwen2.5 0.5B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02920" y="44805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CPU · Exploration · No Hardware Assumptions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1371600" cy="256032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56032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MOTIVATION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65760" y="566928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KV Cache Grows Linearly with Context</a:t>
            </a:r>
            <a:endParaRPr lang="en-US" sz="26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908901" y="1188720"/>
            <a:ext cx="5326197" cy="329184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365760" y="4572000"/>
            <a:ext cx="2560320" cy="45720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457200" y="457200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 layers  </a:t>
            </a:r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TinyLlama · n_kv_heads=4, D=64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3200400" y="4572000"/>
            <a:ext cx="2560320" cy="45720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3291840" y="457200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 layers  </a:t>
            </a:r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Qwen2.5-0.5B · n_kv_heads=8, D=64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6035040" y="4572000"/>
            <a:ext cx="2560320" cy="45720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126480" y="457200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  </a:t>
            </a:r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Growth with · sequence length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606040" cy="514350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01168" y="256032"/>
            <a:ext cx="2011680" cy="2286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01168" y="256032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KV CACHE STRUCTURE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164592" y="594360"/>
            <a:ext cx="2286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Activation Magnitude</a:t>
            </a:r>
            <a:endParaRPr lang="en-US" sz="1800" dirty="0"/>
          </a:p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Across Token Positions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64592" y="1737360"/>
            <a:ext cx="228600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Cache is non-uniform — certain positions have dramatically higher L2 norm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High-norm positions appear in both prose and code across both models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Pattern holds for all KV heads — a structural property, not head-specific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Colour = key vector L2 norm at each (head, token) position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2788920" y="822960"/>
            <a:ext cx="2834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TinyLlama · Prose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852160" y="822960"/>
            <a:ext cx="2834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Qwen2.5 · Prose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2788920" y="2971800"/>
            <a:ext cx="2834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TinyLlama · Code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852160" y="2971800"/>
            <a:ext cx="2834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Qwen2.5 · Code</a:t>
            </a:r>
            <a:endParaRPr lang="en-US" sz="1000" dirty="0"/>
          </a:p>
        </p:txBody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2743200" y="1005840"/>
            <a:ext cx="6126480" cy="2702461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1645920" cy="237744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56032"/>
            <a:ext cx="1645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KV CACHE STRUCTURE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365760" y="566928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Keys and Values Have Different Statistical Profiles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320040" y="1078992"/>
            <a:ext cx="4160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Prose Context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617720" y="1078992"/>
            <a:ext cx="4160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Context</a:t>
            </a:r>
            <a:endParaRPr lang="en-US" sz="110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320040" y="1353312"/>
            <a:ext cx="4160520" cy="2755311"/>
          </a:xfrm>
          <a:prstGeom prst="rect">
            <a:avLst/>
          </a:prstGeom>
        </p:spPr>
      </p:pic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4617720" y="1353312"/>
            <a:ext cx="4160520" cy="2755311"/>
          </a:xfrm>
          <a:prstGeom prst="rect">
            <a:avLst/>
          </a:prstGeom>
        </p:spPr>
      </p:pic>
      <p:sp>
        <p:nvSpPr>
          <p:cNvPr id="9" name="Shape 5"/>
          <p:cNvSpPr/>
          <p:nvPr/>
        </p:nvSpPr>
        <p:spPr>
          <a:xfrm>
            <a:off x="320040" y="4663440"/>
            <a:ext cx="8503920" cy="347472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502920" y="4663440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Keys: </a:t>
            </a:r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heavier tails, structured outliers    </a:t>
            </a:r>
            <a:pPr indent="0" marL="0">
              <a:buNone/>
            </a:pPr>
            <a:r>
              <a:rPr lang="en-US" sz="11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Values: </a:t>
            </a:r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sharply peaked, minimal spread — compress differently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09728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spc="150" kern="0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KV CACHE STRUCTURE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365760" y="338328"/>
            <a:ext cx="84124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Per-Channel Key Variance — Outlier Channels Persist Across Layers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320040" y="1005840"/>
            <a:ext cx="4160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Prose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617720" y="1005840"/>
            <a:ext cx="4160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</a:t>
            </a:r>
            <a:endParaRPr lang="en-US" sz="110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320040" y="1280160"/>
            <a:ext cx="4160520" cy="2944459"/>
          </a:xfrm>
          <a:prstGeom prst="rect">
            <a:avLst/>
          </a:prstGeom>
        </p:spPr>
      </p:pic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4617720" y="1280160"/>
            <a:ext cx="4160520" cy="2944459"/>
          </a:xfrm>
          <a:prstGeom prst="rect">
            <a:avLst/>
          </a:prstGeom>
        </p:spPr>
      </p:pic>
      <p:sp>
        <p:nvSpPr>
          <p:cNvPr id="9" name="Shape 5"/>
          <p:cNvSpPr/>
          <p:nvPr/>
        </p:nvSpPr>
        <p:spPr>
          <a:xfrm>
            <a:off x="320040" y="4617720"/>
            <a:ext cx="2697480" cy="384048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411480" y="4617720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</a:t>
            </a:r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small number of channels dominate variance across all layers</a:t>
            </a:r>
            <a:endParaRPr lang="en-US" sz="1100" dirty="0"/>
          </a:p>
        </p:txBody>
      </p:sp>
      <p:sp>
        <p:nvSpPr>
          <p:cNvPr id="11" name="Shape 7"/>
          <p:cNvSpPr/>
          <p:nvPr/>
        </p:nvSpPr>
        <p:spPr>
          <a:xfrm>
            <a:off x="3200400" y="4617720"/>
            <a:ext cx="2697480" cy="384048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Text 8"/>
          <p:cNvSpPr/>
          <p:nvPr/>
        </p:nvSpPr>
        <p:spPr>
          <a:xfrm>
            <a:off x="3291840" y="4617720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</a:t>
            </a:r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outlier channel indices recur regardless of context type</a:t>
            </a:r>
            <a:endParaRPr lang="en-US" sz="1100" dirty="0"/>
          </a:p>
        </p:txBody>
      </p:sp>
      <p:sp>
        <p:nvSpPr>
          <p:cNvPr id="13" name="Shape 9"/>
          <p:cNvSpPr/>
          <p:nvPr/>
        </p:nvSpPr>
        <p:spPr>
          <a:xfrm>
            <a:off x="6080760" y="4617720"/>
            <a:ext cx="2697480" cy="384048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6172200" y="4617720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</a:t>
            </a:r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Variance concentrates at channels ~23, ~55 in TinyLlama; ~30, ~61 in Qwen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1645920" cy="237744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56032"/>
            <a:ext cx="1645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KV CACHE STRUCTURE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365760" y="566928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Per-Token Key Variance — Code Has More Abrupt Transitions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20040" y="1078992"/>
            <a:ext cx="4160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Prose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617720" y="1078992"/>
            <a:ext cx="4160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</a:t>
            </a:r>
            <a:endParaRPr lang="en-US" sz="110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320040" y="1335024"/>
            <a:ext cx="4160520" cy="2944459"/>
          </a:xfrm>
          <a:prstGeom prst="rect">
            <a:avLst/>
          </a:prstGeom>
        </p:spPr>
      </p:pic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4617720" y="1335024"/>
            <a:ext cx="4160520" cy="2944459"/>
          </a:xfrm>
          <a:prstGeom prst="rect">
            <a:avLst/>
          </a:prstGeom>
        </p:spPr>
      </p:pic>
      <p:sp>
        <p:nvSpPr>
          <p:cNvPr id="9" name="Shape 5"/>
          <p:cNvSpPr/>
          <p:nvPr/>
        </p:nvSpPr>
        <p:spPr>
          <a:xfrm>
            <a:off x="320040" y="4572000"/>
            <a:ext cx="4069080" cy="438912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320040" y="4572000"/>
            <a:ext cx="54864" cy="43891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457200" y="4572000"/>
            <a:ext cx="3840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Prose: </a:t>
            </a:r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Variance is relatively stable across token positions. Adjacent tokens are similar — the temporal-smoothness assumption holds.</a:t>
            </a:r>
            <a:endParaRPr lang="en-US" sz="1100" dirty="0"/>
          </a:p>
        </p:txBody>
      </p:sp>
      <p:sp>
        <p:nvSpPr>
          <p:cNvPr id="12" name="Shape 8"/>
          <p:cNvSpPr/>
          <p:nvPr/>
        </p:nvSpPr>
        <p:spPr>
          <a:xfrm>
            <a:off x="4617720" y="4572000"/>
            <a:ext cx="4069080" cy="438912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Shape 9"/>
          <p:cNvSpPr/>
          <p:nvPr/>
        </p:nvSpPr>
        <p:spPr>
          <a:xfrm>
            <a:off x="4617720" y="4572000"/>
            <a:ext cx="54864" cy="43891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4754880" y="4572000"/>
            <a:ext cx="3840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Code: </a:t>
            </a:r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Sharp spikes at syntactic boundaries: brackets, operators, function names. Adjacent tokens differ substantially.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468880" cy="514350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82880" y="256032"/>
            <a:ext cx="1920240" cy="2286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82880" y="256032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KV CACHE STRUCTURE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164592" y="594360"/>
            <a:ext cx="21488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Metrics</a:t>
            </a:r>
            <a:endParaRPr lang="en-US" sz="1800" dirty="0"/>
          </a:p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Across Depth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182880" y="1508760"/>
            <a:ext cx="109728" cy="320040"/>
          </a:xfrm>
          <a:prstGeom prst="rect">
            <a:avLst/>
          </a:prstGeom>
          <a:solidFill>
            <a:srgbClr val="60A5FA"/>
          </a:solidFill>
          <a:ln w="12700">
            <a:solidFill>
              <a:srgbClr val="60A5F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47472" y="1508760"/>
            <a:ext cx="1965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 Abs Norm
</a:t>
            </a:r>
            <a:endParaRPr lang="en-US" sz="1100" dirty="0"/>
          </a:p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key vector magnitude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182880" y="2286000"/>
            <a:ext cx="109728" cy="320040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47472" y="2286000"/>
            <a:ext cx="1965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Outlier Fraction
</a:t>
            </a:r>
            <a:endParaRPr lang="en-US" sz="1100" dirty="0"/>
          </a:p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Tokens &gt; 3σ from mean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182880" y="3063240"/>
            <a:ext cx="109728" cy="320040"/>
          </a:xfrm>
          <a:prstGeom prst="rect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47472" y="3063240"/>
            <a:ext cx="1965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 Delta Norm
</a:t>
            </a:r>
            <a:endParaRPr lang="en-US" sz="1100" dirty="0"/>
          </a:p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Adjacent-token difference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182880" y="3840480"/>
            <a:ext cx="109728" cy="320040"/>
          </a:xfrm>
          <a:prstGeom prst="rect">
            <a:avLst/>
          </a:prstGeom>
          <a:solidFill>
            <a:srgbClr val="F87171"/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47472" y="3840480"/>
            <a:ext cx="1965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SV Top-50% Energy
</a:t>
            </a:r>
            <a:endParaRPr lang="en-US" sz="1100" dirty="0"/>
          </a:p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Singular value concentration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64592" y="466344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Solid = prose  ·  Dashed = code</a:t>
            </a:r>
            <a:endParaRPr lang="en-US" sz="9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Blue = TinyLlama  ·  Green = Qwen</a:t>
            </a:r>
            <a:endParaRPr lang="en-US" sz="900" dirty="0"/>
          </a:p>
        </p:txBody>
      </p:sp>
      <p:pic>
        <p:nvPicPr>
          <p:cNvPr id="15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2578608" y="164592"/>
            <a:ext cx="6309360" cy="4828032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spc="150" kern="0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KV CACHE STRUCTURE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365760" y="310896"/>
            <a:ext cx="8412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Attention Pattern Preservation — KL Divergence from Uncompressed Baseline</a:t>
            </a:r>
            <a:endParaRPr lang="en-US" sz="1900" dirty="0"/>
          </a:p>
        </p:txBody>
      </p:sp>
      <p:sp>
        <p:nvSpPr>
          <p:cNvPr id="5" name="Shape 3"/>
          <p:cNvSpPr/>
          <p:nvPr/>
        </p:nvSpPr>
        <p:spPr>
          <a:xfrm>
            <a:off x="365760" y="987552"/>
            <a:ext cx="2103120" cy="237744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987552"/>
            <a:ext cx="2103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delta_int8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880360" y="987552"/>
            <a:ext cx="2103120" cy="23774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880360" y="987552"/>
            <a:ext cx="2103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kivi_int4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5394960" y="987552"/>
            <a:ext cx="2103120" cy="237744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394960" y="987552"/>
            <a:ext cx="2103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knorm_0.5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 rot="5400000">
            <a:off x="45720" y="1828800"/>
            <a:ext cx="822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TinyLlama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 rot="5400000">
            <a:off x="45720" y="3108960"/>
            <a:ext cx="822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Qwen2.5</a:t>
            </a:r>
            <a:endParaRPr lang="en-US" sz="1000" dirty="0"/>
          </a:p>
        </p:txBody>
      </p:sp>
      <p:pic>
        <p:nvPicPr>
          <p:cNvPr id="13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11480" y="1261872"/>
            <a:ext cx="8229600" cy="3520440"/>
          </a:xfrm>
          <a:prstGeom prst="rect">
            <a:avLst/>
          </a:prstGeom>
        </p:spPr>
      </p:pic>
      <p:sp>
        <p:nvSpPr>
          <p:cNvPr id="14" name="Shape 11"/>
          <p:cNvSpPr/>
          <p:nvPr/>
        </p:nvSpPr>
        <p:spPr>
          <a:xfrm>
            <a:off x="365760" y="4663440"/>
            <a:ext cx="8412480" cy="347472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502920" y="4663440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Note: </a:t>
            </a:r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 is 1×10⁻⁸ — all three methods preserve attention patterns with negligible KL divergence. No method systematically breaks any layer or head.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KV Cache Compression — Exploration</dc:title>
  <dc:subject>PptxGenJS Presentation</dc:subject>
  <dc:creator>PptxGenJS</dc:creator>
  <cp:lastModifiedBy>PptxGenJS</cp:lastModifiedBy>
  <cp:revision>1</cp:revision>
  <dcterms:created xsi:type="dcterms:W3CDTF">2026-05-11T02:22:36Z</dcterms:created>
  <dcterms:modified xsi:type="dcterms:W3CDTF">2026-05-11T02:22:36Z</dcterms:modified>
</cp:coreProperties>
</file>